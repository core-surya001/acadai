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BM Plex Sans Medium" panose="020B0603050203000203" pitchFamily="34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57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6840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AcadAI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83604"/>
            <a:ext cx="55121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AI-Powered Student Performance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1780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education through intelligent prediction and data-driven intervention</a:t>
            </a:r>
            <a:endParaRPr lang="en-US" sz="17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4FFC9-275A-6B7F-EAD2-1929C1549101}"/>
              </a:ext>
            </a:extLst>
          </p:cNvPr>
          <p:cNvSpPr txBox="1"/>
          <p:nvPr/>
        </p:nvSpPr>
        <p:spPr>
          <a:xfrm>
            <a:off x="685800" y="4445000"/>
            <a:ext cx="5295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Designed by – </a:t>
            </a:r>
            <a:r>
              <a:rPr lang="en-US" sz="2400" b="1" dirty="0">
                <a:solidFill>
                  <a:srgbClr val="FFC000"/>
                </a:solidFill>
              </a:rPr>
              <a:t>Surya Pratap Chaudhary ,   Shivansh Singh, Varun Kashyap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3" y="159425"/>
            <a:ext cx="5273754" cy="7910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0660" y="830342"/>
            <a:ext cx="7586067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Education Challenge Today</a:t>
            </a:r>
            <a:endParaRPr lang="en-US" sz="4150" dirty="0"/>
          </a:p>
        </p:txBody>
      </p:sp>
      <p:sp>
        <p:nvSpPr>
          <p:cNvPr id="5" name="Shape 2"/>
          <p:cNvSpPr/>
          <p:nvPr/>
        </p:nvSpPr>
        <p:spPr>
          <a:xfrm>
            <a:off x="6230660" y="1793796"/>
            <a:ext cx="3728085" cy="3032641"/>
          </a:xfrm>
          <a:prstGeom prst="roundRect">
            <a:avLst>
              <a:gd name="adj" fmla="val 1052"/>
            </a:avLst>
          </a:prstGeom>
          <a:solidFill>
            <a:srgbClr val="484B51"/>
          </a:solidFill>
          <a:ln/>
        </p:spPr>
      </p:sp>
      <p:sp>
        <p:nvSpPr>
          <p:cNvPr id="6" name="Shape 3"/>
          <p:cNvSpPr/>
          <p:nvPr/>
        </p:nvSpPr>
        <p:spPr>
          <a:xfrm>
            <a:off x="6443305" y="2006441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8684" y="2181820"/>
            <a:ext cx="287060" cy="2870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3305" y="2843689"/>
            <a:ext cx="274677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 Real-Time Visibility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6443305" y="3295531"/>
            <a:ext cx="330279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Teachers lack tools to track student performance effectively across multiple assessments and learning activities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0158055" y="1793796"/>
            <a:ext cx="3728085" cy="3032641"/>
          </a:xfrm>
          <a:prstGeom prst="roundRect">
            <a:avLst>
              <a:gd name="adj" fmla="val 1052"/>
            </a:avLst>
          </a:prstGeom>
          <a:solidFill>
            <a:srgbClr val="484B51"/>
          </a:solidFill>
          <a:ln/>
        </p:spPr>
      </p:sp>
      <p:sp>
        <p:nvSpPr>
          <p:cNvPr id="11" name="Shape 7"/>
          <p:cNvSpPr/>
          <p:nvPr/>
        </p:nvSpPr>
        <p:spPr>
          <a:xfrm>
            <a:off x="10370701" y="2006441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6080" y="2181820"/>
            <a:ext cx="287060" cy="2870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70701" y="2843689"/>
            <a:ext cx="305454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 Early Warning System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10370701" y="3295531"/>
            <a:ext cx="330279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Struggling students often go undetected until it's too late to intervene successfully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230660" y="5025747"/>
            <a:ext cx="7655481" cy="2373511"/>
          </a:xfrm>
          <a:prstGeom prst="roundRect">
            <a:avLst>
              <a:gd name="adj" fmla="val 1344"/>
            </a:avLst>
          </a:prstGeom>
          <a:solidFill>
            <a:srgbClr val="484B51"/>
          </a:solidFill>
          <a:ln/>
        </p:spPr>
      </p:sp>
      <p:sp>
        <p:nvSpPr>
          <p:cNvPr id="16" name="Shape 11"/>
          <p:cNvSpPr/>
          <p:nvPr/>
        </p:nvSpPr>
        <p:spPr>
          <a:xfrm>
            <a:off x="6443305" y="523839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FBC8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8684" y="5413772"/>
            <a:ext cx="287060" cy="2870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3305" y="607564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Silos Persist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6443305" y="6527483"/>
            <a:ext cx="72301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Schools collect vast amounts of data, but it remains unused or underutilized without intelligent analysis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F4564A-0E0E-4F70-CEE9-334E386BFDA9}"/>
              </a:ext>
            </a:extLst>
          </p:cNvPr>
          <p:cNvSpPr/>
          <p:nvPr/>
        </p:nvSpPr>
        <p:spPr>
          <a:xfrm>
            <a:off x="12649200" y="7734300"/>
            <a:ext cx="1981200" cy="4953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92791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Our Solution: AI-Driven Intelligence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91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AcadAI leverages machine learning to predict student performance, classify risk levels, and deliver actionable insights that empower educators to intervene early.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42529"/>
            <a:ext cx="32026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Makes Us Different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23673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predictive analytics powered by proven ML algorithms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risk classification with clear priority levels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recommendations tailored to each student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dashboard that transforms complex data into clear visuals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926C22E-CF53-149B-0237-0A01F198EDDC}"/>
              </a:ext>
            </a:extLst>
          </p:cNvPr>
          <p:cNvSpPr/>
          <p:nvPr/>
        </p:nvSpPr>
        <p:spPr>
          <a:xfrm>
            <a:off x="12611100" y="7620000"/>
            <a:ext cx="2019300" cy="60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85493"/>
            <a:ext cx="57922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This Matters Now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134433"/>
            <a:ext cx="1134070" cy="16698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236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Early Intervention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54674" y="285166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at-risk students weeks before traditional methods would flag them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04285"/>
            <a:ext cx="1134070" cy="16698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Better Outcomes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54674" y="452151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support leads to improved grades, retention, and graduation rates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474137"/>
            <a:ext cx="1134070" cy="16698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5700951"/>
            <a:ext cx="28759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154674" y="619136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beyond intuition with evidence-based insights that guide teaching strategies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13053"/>
            <a:ext cx="755046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Features That Drive Results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993" y="1604129"/>
            <a:ext cx="504944" cy="50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993" y="2333863"/>
            <a:ext cx="308205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Student Data Management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06993" y="275736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platform for grades, attendance, assignments, and behavioral data across all courses and terms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7595" y="1604129"/>
            <a:ext cx="504944" cy="504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7595" y="233386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Prediction Engine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427595" y="275736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models analyze patterns to forecast performance with proven accuracy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993" y="3728204"/>
            <a:ext cx="504944" cy="5049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6993" y="445793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Risk Classification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06993" y="4881443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categorization into Low/Medium/High risk tiers with color-coded priority levels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7595" y="3728204"/>
            <a:ext cx="504944" cy="5049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7595" y="4457938"/>
            <a:ext cx="340030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Insights &amp; Recommendations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427595" y="4881443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Specific, actionable interventions tailored to each student's learning patterns and gaps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6993" y="5852279"/>
            <a:ext cx="504944" cy="5049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6993" y="658201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Dashboard Analytics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706993" y="700551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visualizations showing trends, correlations, and progress across entire classrooms or individual students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27595" y="5852279"/>
            <a:ext cx="504944" cy="5049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7595" y="658201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Automated Reports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7427595" y="700551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detailed performance reports for parents, administrators, and counseling sessions</a:t>
            </a:r>
            <a:endParaRPr lang="en-US" sz="15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3F7C8D-917B-6947-9311-7A248ACC9078}"/>
              </a:ext>
            </a:extLst>
          </p:cNvPr>
          <p:cNvSpPr/>
          <p:nvPr/>
        </p:nvSpPr>
        <p:spPr>
          <a:xfrm>
            <a:off x="12611100" y="7616547"/>
            <a:ext cx="2019300" cy="611029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82454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Architecture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1621393"/>
            <a:ext cx="13166884" cy="6025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76550" y="2396650"/>
            <a:ext cx="2912646" cy="3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Backend &amp; Frontend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0376550" y="2864292"/>
            <a:ext cx="3210384" cy="55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APIs with React/Next.js UI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81973" y="4377250"/>
            <a:ext cx="2912646" cy="36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Services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43138" y="4844891"/>
            <a:ext cx="2951481" cy="55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ML models and prediction engine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76550" y="5399912"/>
            <a:ext cx="2912646" cy="3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Data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376550" y="5867553"/>
            <a:ext cx="3210384" cy="55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for reliable storage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4B740-1562-A736-613D-E11BCDFE7905}"/>
              </a:ext>
            </a:extLst>
          </p:cNvPr>
          <p:cNvSpPr/>
          <p:nvPr/>
        </p:nvSpPr>
        <p:spPr>
          <a:xfrm>
            <a:off x="12788900" y="7647146"/>
            <a:ext cx="1841500" cy="559471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7091"/>
            <a:ext cx="6137791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How It Works: The Workflow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1022509" y="1716881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484B51"/>
          </a:solidFill>
          <a:ln/>
        </p:spPr>
      </p:sp>
      <p:sp>
        <p:nvSpPr>
          <p:cNvPr id="4" name="Shape 2"/>
          <p:cNvSpPr/>
          <p:nvPr/>
        </p:nvSpPr>
        <p:spPr>
          <a:xfrm>
            <a:off x="834628" y="1593652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484B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479" y="1734622"/>
            <a:ext cx="281702" cy="281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3647" y="162294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Input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3647" y="2009656"/>
            <a:ext cx="122420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Teachers and systems upload grades, attendance, assignments, and behavioral data through simple interfaces or automated integrations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304211" y="2999423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484B51"/>
          </a:solidFill>
          <a:ln/>
        </p:spPr>
      </p:sp>
      <p:sp>
        <p:nvSpPr>
          <p:cNvPr id="9" name="Shape 6"/>
          <p:cNvSpPr/>
          <p:nvPr/>
        </p:nvSpPr>
        <p:spPr>
          <a:xfrm>
            <a:off x="1116330" y="2876193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484B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7181" y="3017163"/>
            <a:ext cx="281702" cy="281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35348" y="290548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35348" y="3292197"/>
            <a:ext cx="1196030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is cleaned, normalized, and transformed into features that machine learning models can analyze effectively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586032" y="4281964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484B51"/>
          </a:solidFill>
          <a:ln/>
        </p:spPr>
      </p:sp>
      <p:sp>
        <p:nvSpPr>
          <p:cNvPr id="14" name="Shape 10"/>
          <p:cNvSpPr/>
          <p:nvPr/>
        </p:nvSpPr>
        <p:spPr>
          <a:xfrm>
            <a:off x="1398151" y="4158734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484B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9002" y="4299704"/>
            <a:ext cx="281702" cy="2817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17169" y="4188023"/>
            <a:ext cx="2349579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Prediction Generation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117169" y="4574738"/>
            <a:ext cx="116784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AI models process the data to predict future performance and classify risk levels with confidence scores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867733" y="5564505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484B51"/>
          </a:solidFill>
          <a:ln/>
        </p:spPr>
      </p:sp>
      <p:sp>
        <p:nvSpPr>
          <p:cNvPr id="19" name="Shape 14"/>
          <p:cNvSpPr/>
          <p:nvPr/>
        </p:nvSpPr>
        <p:spPr>
          <a:xfrm>
            <a:off x="1679853" y="5441275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484B5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20704" y="5582245"/>
            <a:ext cx="281702" cy="2817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98871" y="547056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Insights Creation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398871" y="5857280"/>
            <a:ext cx="1139678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generates specific recommendations and identifies patterns that teachers can act upon immediately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586032" y="6847046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484B51"/>
          </a:solidFill>
          <a:ln/>
        </p:spPr>
      </p:sp>
      <p:sp>
        <p:nvSpPr>
          <p:cNvPr id="24" name="Shape 18"/>
          <p:cNvSpPr/>
          <p:nvPr/>
        </p:nvSpPr>
        <p:spPr>
          <a:xfrm>
            <a:off x="1398151" y="6723817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484B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39002" y="6864787"/>
            <a:ext cx="281702" cy="2817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117169" y="675310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Dashboard Display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117169" y="7139821"/>
            <a:ext cx="116784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visualizations and alerts appear on teacher dashboards, mobile apps, and administrative reports</a:t>
            </a:r>
            <a:endParaRPr lang="en-US" sz="14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B1B6D4-7620-D19C-D752-1C3724790C4E}"/>
              </a:ext>
            </a:extLst>
          </p:cNvPr>
          <p:cNvSpPr/>
          <p:nvPr/>
        </p:nvSpPr>
        <p:spPr>
          <a:xfrm>
            <a:off x="12534900" y="7692271"/>
            <a:ext cx="2095500" cy="537329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57348" y="1780806"/>
            <a:ext cx="5259705" cy="4667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341602"/>
            <a:ext cx="6210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Live Dashboard Preview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 a Glance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198501"/>
            <a:ext cx="35015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overview with risk distribution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student profiles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 trend analysis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4198501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accuracy rates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Intervention effectiveness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Grade improvement tracking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4482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Technology Stack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642" y="1702237"/>
            <a:ext cx="6455569" cy="2853452"/>
          </a:xfrm>
          <a:prstGeom prst="roundRect">
            <a:avLst>
              <a:gd name="adj" fmla="val 113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122" y="1732717"/>
            <a:ext cx="6394609" cy="648533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2263" y="1894761"/>
            <a:ext cx="324207" cy="324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221" y="258722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Frontend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03221" y="3048595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 with Next.js framework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3221" y="3509962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 for modern styling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3221" y="3971330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 design for all devices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18189" y="1702237"/>
            <a:ext cx="6455569" cy="2853452"/>
          </a:xfrm>
          <a:prstGeom prst="roundRect">
            <a:avLst>
              <a:gd name="adj" fmla="val 113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48669" y="1732717"/>
            <a:ext cx="6394609" cy="648533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83810" y="1894761"/>
            <a:ext cx="324207" cy="3242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4768" y="258722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Backend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7664768" y="3048595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runtime environment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64768" y="3509962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Express.js web framework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664768" y="3971330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RESTful API architecture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756642" y="4761667"/>
            <a:ext cx="6455569" cy="2853452"/>
          </a:xfrm>
          <a:prstGeom prst="roundRect">
            <a:avLst>
              <a:gd name="adj" fmla="val 113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7122" y="4792147"/>
            <a:ext cx="6394609" cy="648533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2263" y="4954191"/>
            <a:ext cx="324207" cy="32420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3221" y="564665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Engine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003221" y="6108025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programming language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003221" y="6569393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 for ML models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003221" y="7030760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for data manipulation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7418189" y="4761667"/>
            <a:ext cx="6455569" cy="2853452"/>
          </a:xfrm>
          <a:prstGeom prst="roundRect">
            <a:avLst>
              <a:gd name="adj" fmla="val 113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48669" y="4792147"/>
            <a:ext cx="6394609" cy="648533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83810" y="4954191"/>
            <a:ext cx="324207" cy="32420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64768" y="564665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Layer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7664768" y="6108025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relational database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664768" y="6569393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data storage and retrieval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664768" y="7030760"/>
            <a:ext cx="596241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infrastructure</a:t>
            </a:r>
            <a:endParaRPr lang="en-US" sz="17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E932AD-53DD-E9F8-52C5-72216F0CAC75}"/>
              </a:ext>
            </a:extLst>
          </p:cNvPr>
          <p:cNvSpPr/>
          <p:nvPr/>
        </p:nvSpPr>
        <p:spPr>
          <a:xfrm>
            <a:off x="12674600" y="7734300"/>
            <a:ext cx="1955800" cy="4953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7868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Future of Education is Here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863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Immediate Benefits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444359"/>
            <a:ext cx="35015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student success rates through early intervention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teacher workload with automated insights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decision making for administrators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2863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Roadmap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3444359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for real-time notifications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with LMS platforms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NLP for essay analysis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620351" y="6369963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"AcadAI transforms raw data into actionable intelligence, empowering educators to help every student succeed."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6114812"/>
            <a:ext cx="30480" cy="1236107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C4F388-5E23-13F5-4475-0D14934C3E90}"/>
              </a:ext>
            </a:extLst>
          </p:cNvPr>
          <p:cNvSpPr/>
          <p:nvPr/>
        </p:nvSpPr>
        <p:spPr>
          <a:xfrm>
            <a:off x="12636500" y="7620000"/>
            <a:ext cx="1993900" cy="60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569</Words>
  <Application>Microsoft Office PowerPoint</Application>
  <PresentationFormat>Custom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IBM Plex Sans Medium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</dc:creator>
  <cp:lastModifiedBy>Surya Pratap</cp:lastModifiedBy>
  <cp:revision>2</cp:revision>
  <dcterms:created xsi:type="dcterms:W3CDTF">2026-04-13T06:35:02Z</dcterms:created>
  <dcterms:modified xsi:type="dcterms:W3CDTF">2026-04-13T06:46:43Z</dcterms:modified>
</cp:coreProperties>
</file>