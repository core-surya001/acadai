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IBM Plex Sans Medium" panose="020B0603050203000203" pitchFamily="34" charset="0"/>
      <p:regular r:id="rId13"/>
    </p:embeddedFont>
    <p:embeddedFont>
      <p:font typeface="Roboto" panose="02000000000000000000" pitchFamily="2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C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8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570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1.sv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svg"/><Relationship Id="rId4" Type="http://schemas.openxmlformats.org/officeDocument/2006/relationships/image" Target="../media/image29.svg"/><Relationship Id="rId9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10" Type="http://schemas.openxmlformats.org/officeDocument/2006/relationships/image" Target="../media/image46.svg"/><Relationship Id="rId4" Type="http://schemas.openxmlformats.org/officeDocument/2006/relationships/image" Target="../media/image40.sv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348" y="170021"/>
            <a:ext cx="5259705" cy="78895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168409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AcadAI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90" y="2483604"/>
            <a:ext cx="551211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AI-Powered Student Performance Insights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3178096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Transforming education through intelligent prediction and data-driven intervention</a:t>
            </a:r>
            <a:endParaRPr lang="en-US" sz="17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D4FFC9-275A-6B7F-EAD2-1929C1549101}"/>
              </a:ext>
            </a:extLst>
          </p:cNvPr>
          <p:cNvSpPr txBox="1"/>
          <p:nvPr/>
        </p:nvSpPr>
        <p:spPr>
          <a:xfrm>
            <a:off x="685800" y="4445000"/>
            <a:ext cx="5295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Designed by – </a:t>
            </a:r>
            <a:r>
              <a:rPr lang="en-US" sz="2400" b="1" dirty="0">
                <a:solidFill>
                  <a:srgbClr val="FFC000"/>
                </a:solidFill>
              </a:rPr>
              <a:t>Surya Pratap Chaudhary ,   Shivansh Singh, Varun Kashyap</a:t>
            </a:r>
            <a:endParaRPr lang="en-IN" sz="2400" b="1"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3" y="159425"/>
            <a:ext cx="5273754" cy="7910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30660" y="830342"/>
            <a:ext cx="7586067" cy="664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The Education Challenge Today</a:t>
            </a:r>
            <a:endParaRPr lang="en-US" sz="4150" dirty="0"/>
          </a:p>
        </p:txBody>
      </p:sp>
      <p:sp>
        <p:nvSpPr>
          <p:cNvPr id="5" name="Shape 2"/>
          <p:cNvSpPr/>
          <p:nvPr/>
        </p:nvSpPr>
        <p:spPr>
          <a:xfrm>
            <a:off x="6230660" y="1793796"/>
            <a:ext cx="3728085" cy="3032641"/>
          </a:xfrm>
          <a:prstGeom prst="roundRect">
            <a:avLst>
              <a:gd name="adj" fmla="val 1052"/>
            </a:avLst>
          </a:prstGeom>
          <a:solidFill>
            <a:srgbClr val="484B51"/>
          </a:solidFill>
          <a:ln/>
        </p:spPr>
      </p:sp>
      <p:sp>
        <p:nvSpPr>
          <p:cNvPr id="6" name="Shape 3"/>
          <p:cNvSpPr/>
          <p:nvPr/>
        </p:nvSpPr>
        <p:spPr>
          <a:xfrm>
            <a:off x="6443305" y="2006441"/>
            <a:ext cx="637937" cy="637937"/>
          </a:xfrm>
          <a:prstGeom prst="roundRect">
            <a:avLst>
              <a:gd name="adj" fmla="val 14332270"/>
            </a:avLst>
          </a:prstGeom>
          <a:solidFill>
            <a:srgbClr val="FFBC8F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8684" y="2181820"/>
            <a:ext cx="287060" cy="2870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43305" y="2843689"/>
            <a:ext cx="2746772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No Real-Time Visibility</a:t>
            </a:r>
            <a:endParaRPr lang="en-US" sz="2050" dirty="0"/>
          </a:p>
        </p:txBody>
      </p:sp>
      <p:sp>
        <p:nvSpPr>
          <p:cNvPr id="9" name="Text 5"/>
          <p:cNvSpPr/>
          <p:nvPr/>
        </p:nvSpPr>
        <p:spPr>
          <a:xfrm>
            <a:off x="6443305" y="3295531"/>
            <a:ext cx="3302794" cy="1318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Teachers lack tools to track student performance effectively across multiple assessments and learning activities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10158055" y="1793796"/>
            <a:ext cx="3728085" cy="3032641"/>
          </a:xfrm>
          <a:prstGeom prst="roundRect">
            <a:avLst>
              <a:gd name="adj" fmla="val 1052"/>
            </a:avLst>
          </a:prstGeom>
          <a:solidFill>
            <a:srgbClr val="484B51"/>
          </a:solidFill>
          <a:ln/>
        </p:spPr>
      </p:sp>
      <p:sp>
        <p:nvSpPr>
          <p:cNvPr id="11" name="Shape 7"/>
          <p:cNvSpPr/>
          <p:nvPr/>
        </p:nvSpPr>
        <p:spPr>
          <a:xfrm>
            <a:off x="10370701" y="2006441"/>
            <a:ext cx="637937" cy="637937"/>
          </a:xfrm>
          <a:prstGeom prst="roundRect">
            <a:avLst>
              <a:gd name="adj" fmla="val 14332270"/>
            </a:avLst>
          </a:prstGeom>
          <a:solidFill>
            <a:srgbClr val="FFBC8F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46080" y="2181820"/>
            <a:ext cx="287060" cy="2870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370701" y="2843689"/>
            <a:ext cx="3054548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No Early Warning System</a:t>
            </a:r>
            <a:endParaRPr lang="en-US" sz="2050" dirty="0"/>
          </a:p>
        </p:txBody>
      </p:sp>
      <p:sp>
        <p:nvSpPr>
          <p:cNvPr id="14" name="Text 9"/>
          <p:cNvSpPr/>
          <p:nvPr/>
        </p:nvSpPr>
        <p:spPr>
          <a:xfrm>
            <a:off x="10370701" y="3295531"/>
            <a:ext cx="3302794" cy="988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Struggling students often go undetected until it's too late to intervene successfully</a:t>
            </a:r>
            <a:endParaRPr lang="en-US" sz="1650" dirty="0"/>
          </a:p>
        </p:txBody>
      </p:sp>
      <p:sp>
        <p:nvSpPr>
          <p:cNvPr id="15" name="Shape 10"/>
          <p:cNvSpPr/>
          <p:nvPr/>
        </p:nvSpPr>
        <p:spPr>
          <a:xfrm>
            <a:off x="6230660" y="5025747"/>
            <a:ext cx="7655481" cy="2373511"/>
          </a:xfrm>
          <a:prstGeom prst="roundRect">
            <a:avLst>
              <a:gd name="adj" fmla="val 1344"/>
            </a:avLst>
          </a:prstGeom>
          <a:solidFill>
            <a:srgbClr val="484B51"/>
          </a:solidFill>
          <a:ln/>
        </p:spPr>
      </p:sp>
      <p:sp>
        <p:nvSpPr>
          <p:cNvPr id="16" name="Shape 11"/>
          <p:cNvSpPr/>
          <p:nvPr/>
        </p:nvSpPr>
        <p:spPr>
          <a:xfrm>
            <a:off x="6443305" y="5238393"/>
            <a:ext cx="637937" cy="637937"/>
          </a:xfrm>
          <a:prstGeom prst="roundRect">
            <a:avLst>
              <a:gd name="adj" fmla="val 14332270"/>
            </a:avLst>
          </a:prstGeom>
          <a:solidFill>
            <a:srgbClr val="FFBC8F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8684" y="5413772"/>
            <a:ext cx="287060" cy="2870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43305" y="6075640"/>
            <a:ext cx="2658070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Data Silos Persist</a:t>
            </a:r>
            <a:endParaRPr lang="en-US" sz="2050" dirty="0"/>
          </a:p>
        </p:txBody>
      </p:sp>
      <p:sp>
        <p:nvSpPr>
          <p:cNvPr id="19" name="Text 13"/>
          <p:cNvSpPr/>
          <p:nvPr/>
        </p:nvSpPr>
        <p:spPr>
          <a:xfrm>
            <a:off x="6443305" y="6527483"/>
            <a:ext cx="7230189" cy="659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Schools collect vast amounts of data, but it remains unused or underutilized without intelligent analysis</a:t>
            </a:r>
            <a:endParaRPr lang="en-US" sz="16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F4564A-0E0E-4F70-CEE9-334E386BFDA9}"/>
              </a:ext>
            </a:extLst>
          </p:cNvPr>
          <p:cNvSpPr/>
          <p:nvPr/>
        </p:nvSpPr>
        <p:spPr>
          <a:xfrm>
            <a:off x="12649200" y="7734300"/>
            <a:ext cx="1981200" cy="495300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32535"/>
            <a:ext cx="927913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Our Solution: AI-Driven Intelligence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089910"/>
            <a:ext cx="828413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AcadAI leverages machine learning to predict student performance, classify risk levels, and deliver actionable insights that empower educators to intervene early.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042529"/>
            <a:ext cx="320266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What Makes Us Different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623673"/>
            <a:ext cx="828413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predictive analytics powered by proven ML algorithms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risk classification with clear priority levels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Data-driven recommendations tailored to each student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Intuitive dashboard that transforms complex data into clear visuals</a:t>
            </a:r>
            <a:endParaRPr lang="en-US" sz="1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943" y="2536627"/>
            <a:ext cx="4205168" cy="420516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926C22E-CF53-149B-0237-0A01F198EDDC}"/>
              </a:ext>
            </a:extLst>
          </p:cNvPr>
          <p:cNvSpPr/>
          <p:nvPr/>
        </p:nvSpPr>
        <p:spPr>
          <a:xfrm>
            <a:off x="12611100" y="7620000"/>
            <a:ext cx="2019300" cy="609600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1C38-4468-3B6C-C2E7-473D71659275}"/>
              </a:ext>
            </a:extLst>
          </p:cNvPr>
          <p:cNvSpPr txBox="1"/>
          <p:nvPr/>
        </p:nvSpPr>
        <p:spPr>
          <a:xfrm>
            <a:off x="793790" y="1983462"/>
            <a:ext cx="575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00B0F0"/>
                </a:solidFill>
              </a:rPr>
              <a:t>https://acad-ai-azure.vercel.app/login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348" y="170021"/>
            <a:ext cx="5259705" cy="78895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1085493"/>
            <a:ext cx="579227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Why This Matters Now</a:t>
            </a:r>
            <a:endParaRPr lang="en-US" sz="4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2134433"/>
            <a:ext cx="1134070" cy="166985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154674" y="23612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Early Intervention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154674" y="2851666"/>
            <a:ext cx="619553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Identify at-risk students weeks before traditional methods would flag them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804285"/>
            <a:ext cx="1134070" cy="166985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154674" y="40310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Better Outcomes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2154674" y="4521517"/>
            <a:ext cx="619553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Proactive support leads to improved grades, retention, and graduation rates</a:t>
            </a:r>
            <a:endParaRPr lang="en-US" sz="1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5474137"/>
            <a:ext cx="1134070" cy="166985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154674" y="5700951"/>
            <a:ext cx="287595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Data-Driven Decisions</a:t>
            </a:r>
            <a:endParaRPr lang="en-US" sz="2200" dirty="0"/>
          </a:p>
        </p:txBody>
      </p:sp>
      <p:sp>
        <p:nvSpPr>
          <p:cNvPr id="13" name="Text 7"/>
          <p:cNvSpPr/>
          <p:nvPr/>
        </p:nvSpPr>
        <p:spPr>
          <a:xfrm>
            <a:off x="2154674" y="6191369"/>
            <a:ext cx="619553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Move beyond intuition with evidence-based insights that guide teaching strategies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993" y="613053"/>
            <a:ext cx="7550468" cy="631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Core Features That Drive Results</a:t>
            </a:r>
            <a:endParaRPr lang="en-US" sz="3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6993" y="1604129"/>
            <a:ext cx="504944" cy="5049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06993" y="2333863"/>
            <a:ext cx="3082052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Student Data Management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706993" y="2757368"/>
            <a:ext cx="64958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platform for grades, attendance, assignments, and behavioral data across all courses and terms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27595" y="1604129"/>
            <a:ext cx="504944" cy="5049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27595" y="2333863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AI Prediction Engine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7427595" y="2757368"/>
            <a:ext cx="64958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Machine learning models analyze patterns to forecast performance with proven accuracy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6993" y="3728204"/>
            <a:ext cx="504944" cy="5049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06993" y="4457938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Risk Classification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706993" y="4881443"/>
            <a:ext cx="64958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Automatic categorization into Low/Medium/High risk tiers with color-coded priority levels</a:t>
            </a:r>
            <a:endParaRPr lang="en-US" sz="15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27595" y="3728204"/>
            <a:ext cx="504944" cy="5049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7595" y="4457938"/>
            <a:ext cx="3400306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Insights &amp; Recommendations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7427595" y="4881443"/>
            <a:ext cx="64958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Specific, actionable interventions tailored to each student's learning patterns and gaps</a:t>
            </a:r>
            <a:endParaRPr lang="en-US" sz="15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6993" y="5852279"/>
            <a:ext cx="504944" cy="50494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06993" y="6582013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Dashboard Analytics</a:t>
            </a:r>
            <a:endParaRPr lang="en-US" sz="1950" dirty="0"/>
          </a:p>
        </p:txBody>
      </p:sp>
      <p:sp>
        <p:nvSpPr>
          <p:cNvPr id="17" name="Text 10"/>
          <p:cNvSpPr/>
          <p:nvPr/>
        </p:nvSpPr>
        <p:spPr>
          <a:xfrm>
            <a:off x="706993" y="7005518"/>
            <a:ext cx="64958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visualizations showing trends, correlations, and progress across entire classrooms or individual students</a:t>
            </a:r>
            <a:endParaRPr lang="en-US" sz="15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27595" y="5852279"/>
            <a:ext cx="504944" cy="50494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7595" y="6582013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Automated Reports</a:t>
            </a:r>
            <a:endParaRPr lang="en-US" sz="1950" dirty="0"/>
          </a:p>
        </p:txBody>
      </p:sp>
      <p:sp>
        <p:nvSpPr>
          <p:cNvPr id="20" name="Text 12"/>
          <p:cNvSpPr/>
          <p:nvPr/>
        </p:nvSpPr>
        <p:spPr>
          <a:xfrm>
            <a:off x="7427595" y="7005518"/>
            <a:ext cx="64958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detailed performance reports for parents, administrators, and counseling sessions</a:t>
            </a:r>
            <a:endParaRPr lang="en-US" sz="155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3F7C8D-917B-6947-9311-7A248ACC9078}"/>
              </a:ext>
            </a:extLst>
          </p:cNvPr>
          <p:cNvSpPr/>
          <p:nvPr/>
        </p:nvSpPr>
        <p:spPr>
          <a:xfrm>
            <a:off x="12611100" y="7616547"/>
            <a:ext cx="2019300" cy="611029"/>
          </a:xfrm>
          <a:prstGeom prst="rect">
            <a:avLst/>
          </a:prstGeom>
          <a:solidFill>
            <a:srgbClr val="292C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758" y="582454"/>
            <a:ext cx="5227558" cy="653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1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System Architecture</a:t>
            </a:r>
            <a:endParaRPr lang="en-US" sz="4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58" y="1621393"/>
            <a:ext cx="13166884" cy="60257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376550" y="2396650"/>
            <a:ext cx="2912646" cy="364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Backend &amp; Frontend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10376550" y="2864292"/>
            <a:ext cx="3210384" cy="55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Node.js APIs with React/Next.js UI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81973" y="4377250"/>
            <a:ext cx="2912646" cy="364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22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AI Services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1043138" y="4844891"/>
            <a:ext cx="2951481" cy="55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ML models and prediction engine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376550" y="5399912"/>
            <a:ext cx="2912646" cy="364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5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Core Data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0376550" y="5867553"/>
            <a:ext cx="3210384" cy="55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PostgreSQL for reliable storage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C4B740-1562-A736-613D-E11BCDFE7905}"/>
              </a:ext>
            </a:extLst>
          </p:cNvPr>
          <p:cNvSpPr/>
          <p:nvPr/>
        </p:nvSpPr>
        <p:spPr>
          <a:xfrm>
            <a:off x="12788900" y="7647146"/>
            <a:ext cx="1841500" cy="559471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4628" y="537091"/>
            <a:ext cx="6137791" cy="586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How It Works: The Workflow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1022509" y="1716881"/>
            <a:ext cx="187762" cy="845225"/>
          </a:xfrm>
          <a:prstGeom prst="roundRect">
            <a:avLst>
              <a:gd name="adj" fmla="val 15006"/>
            </a:avLst>
          </a:prstGeom>
          <a:solidFill>
            <a:srgbClr val="484B51"/>
          </a:solidFill>
          <a:ln/>
        </p:spPr>
      </p:sp>
      <p:sp>
        <p:nvSpPr>
          <p:cNvPr id="4" name="Shape 2"/>
          <p:cNvSpPr/>
          <p:nvPr/>
        </p:nvSpPr>
        <p:spPr>
          <a:xfrm>
            <a:off x="834628" y="1593652"/>
            <a:ext cx="563523" cy="563523"/>
          </a:xfrm>
          <a:prstGeom prst="roundRect">
            <a:avLst>
              <a:gd name="adj" fmla="val 81132"/>
            </a:avLst>
          </a:prstGeom>
          <a:solidFill>
            <a:srgbClr val="484B5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5479" y="1734622"/>
            <a:ext cx="281702" cy="2817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3647" y="1622941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Data Input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53647" y="2009656"/>
            <a:ext cx="122420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Teachers and systems upload grades, attendance, assignments, and behavioral data through simple interfaces or automated integrations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304211" y="2999423"/>
            <a:ext cx="187762" cy="845225"/>
          </a:xfrm>
          <a:prstGeom prst="roundRect">
            <a:avLst>
              <a:gd name="adj" fmla="val 15006"/>
            </a:avLst>
          </a:prstGeom>
          <a:solidFill>
            <a:srgbClr val="484B51"/>
          </a:solidFill>
          <a:ln/>
        </p:spPr>
      </p:sp>
      <p:sp>
        <p:nvSpPr>
          <p:cNvPr id="9" name="Shape 6"/>
          <p:cNvSpPr/>
          <p:nvPr/>
        </p:nvSpPr>
        <p:spPr>
          <a:xfrm>
            <a:off x="1116330" y="2876193"/>
            <a:ext cx="563523" cy="563523"/>
          </a:xfrm>
          <a:prstGeom prst="roundRect">
            <a:avLst>
              <a:gd name="adj" fmla="val 81132"/>
            </a:avLst>
          </a:prstGeom>
          <a:solidFill>
            <a:srgbClr val="484B5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57181" y="3017163"/>
            <a:ext cx="281702" cy="2817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35348" y="2905482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Processing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835348" y="3292197"/>
            <a:ext cx="11960304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is cleaned, normalized, and transformed into features that machine learning models can analyze effectively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1586032" y="4281964"/>
            <a:ext cx="187762" cy="845225"/>
          </a:xfrm>
          <a:prstGeom prst="roundRect">
            <a:avLst>
              <a:gd name="adj" fmla="val 15006"/>
            </a:avLst>
          </a:prstGeom>
          <a:solidFill>
            <a:srgbClr val="484B51"/>
          </a:solidFill>
          <a:ln/>
        </p:spPr>
      </p:sp>
      <p:sp>
        <p:nvSpPr>
          <p:cNvPr id="14" name="Shape 10"/>
          <p:cNvSpPr/>
          <p:nvPr/>
        </p:nvSpPr>
        <p:spPr>
          <a:xfrm>
            <a:off x="1398151" y="4158734"/>
            <a:ext cx="563523" cy="563523"/>
          </a:xfrm>
          <a:prstGeom prst="roundRect">
            <a:avLst>
              <a:gd name="adj" fmla="val 81132"/>
            </a:avLst>
          </a:prstGeom>
          <a:solidFill>
            <a:srgbClr val="484B51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39002" y="4299704"/>
            <a:ext cx="281702" cy="2817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17169" y="4188023"/>
            <a:ext cx="2349579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Prediction Generation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2117169" y="4574738"/>
            <a:ext cx="11678483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Trained AI models process the data to predict future performance and classify risk levels with confidence scores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1867733" y="5564505"/>
            <a:ext cx="187762" cy="845225"/>
          </a:xfrm>
          <a:prstGeom prst="roundRect">
            <a:avLst>
              <a:gd name="adj" fmla="val 15006"/>
            </a:avLst>
          </a:prstGeom>
          <a:solidFill>
            <a:srgbClr val="484B51"/>
          </a:solidFill>
          <a:ln/>
        </p:spPr>
      </p:sp>
      <p:sp>
        <p:nvSpPr>
          <p:cNvPr id="19" name="Shape 14"/>
          <p:cNvSpPr/>
          <p:nvPr/>
        </p:nvSpPr>
        <p:spPr>
          <a:xfrm>
            <a:off x="1679853" y="5441275"/>
            <a:ext cx="563523" cy="563523"/>
          </a:xfrm>
          <a:prstGeom prst="roundRect">
            <a:avLst>
              <a:gd name="adj" fmla="val 81132"/>
            </a:avLst>
          </a:prstGeom>
          <a:solidFill>
            <a:srgbClr val="484B51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20704" y="5582245"/>
            <a:ext cx="281702" cy="2817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398871" y="5470565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Insights Creation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2398871" y="5857280"/>
            <a:ext cx="11396782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System generates specific recommendations and identifies patterns that teachers can act upon immediately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1586032" y="6847046"/>
            <a:ext cx="187762" cy="845225"/>
          </a:xfrm>
          <a:prstGeom prst="roundRect">
            <a:avLst>
              <a:gd name="adj" fmla="val 15006"/>
            </a:avLst>
          </a:prstGeom>
          <a:solidFill>
            <a:srgbClr val="484B51"/>
          </a:solidFill>
          <a:ln/>
        </p:spPr>
      </p:sp>
      <p:sp>
        <p:nvSpPr>
          <p:cNvPr id="24" name="Shape 18"/>
          <p:cNvSpPr/>
          <p:nvPr/>
        </p:nvSpPr>
        <p:spPr>
          <a:xfrm>
            <a:off x="1398151" y="6723817"/>
            <a:ext cx="563523" cy="563523"/>
          </a:xfrm>
          <a:prstGeom prst="roundRect">
            <a:avLst>
              <a:gd name="adj" fmla="val 81132"/>
            </a:avLst>
          </a:prstGeom>
          <a:solidFill>
            <a:srgbClr val="484B51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9002" y="6864787"/>
            <a:ext cx="281702" cy="28170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2117169" y="6753106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Dashboard Display</a:t>
            </a:r>
            <a:endParaRPr lang="en-US" sz="1800" dirty="0"/>
          </a:p>
        </p:txBody>
      </p:sp>
      <p:sp>
        <p:nvSpPr>
          <p:cNvPr id="27" name="Text 20"/>
          <p:cNvSpPr/>
          <p:nvPr/>
        </p:nvSpPr>
        <p:spPr>
          <a:xfrm>
            <a:off x="2117169" y="7139821"/>
            <a:ext cx="11678483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visualizations and alerts appear on teacher dashboards, mobile apps, and administrative reports</a:t>
            </a:r>
            <a:endParaRPr lang="en-US" sz="145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4B1B6D4-7620-D19C-D752-1C3724790C4E}"/>
              </a:ext>
            </a:extLst>
          </p:cNvPr>
          <p:cNvSpPr/>
          <p:nvPr/>
        </p:nvSpPr>
        <p:spPr>
          <a:xfrm>
            <a:off x="12534900" y="7692271"/>
            <a:ext cx="2095500" cy="537329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57348" y="1780806"/>
            <a:ext cx="5259705" cy="46679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2341602"/>
            <a:ext cx="621065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Live Dashboard Preview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90" y="361735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At a Glance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4198501"/>
            <a:ext cx="3501509" cy="161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Class overview with risk distribution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Individual student profiles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 trend analysis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4856321" y="361735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Key Metrics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856321" y="4198501"/>
            <a:ext cx="3501509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Prediction accuracy rates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Intervention effectiveness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Grade improvement tracking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6642" y="614482"/>
            <a:ext cx="5404842" cy="67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Technology Stack</a:t>
            </a:r>
            <a:endParaRPr lang="en-US" sz="4250" dirty="0"/>
          </a:p>
        </p:txBody>
      </p:sp>
      <p:sp>
        <p:nvSpPr>
          <p:cNvPr id="3" name="Shape 1"/>
          <p:cNvSpPr/>
          <p:nvPr/>
        </p:nvSpPr>
        <p:spPr>
          <a:xfrm>
            <a:off x="756642" y="1702237"/>
            <a:ext cx="6455569" cy="2853452"/>
          </a:xfrm>
          <a:prstGeom prst="roundRect">
            <a:avLst>
              <a:gd name="adj" fmla="val 1136"/>
            </a:avLst>
          </a:prstGeom>
          <a:solidFill>
            <a:srgbClr val="292C32"/>
          </a:solidFill>
          <a:ln w="30480">
            <a:solidFill>
              <a:srgbClr val="6164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122" y="1732717"/>
            <a:ext cx="6394609" cy="648533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22263" y="1894761"/>
            <a:ext cx="324207" cy="3242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3221" y="2587228"/>
            <a:ext cx="270236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Frontend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003221" y="3048595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React.js with Next.js framework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3221" y="3509962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Tailwind CSS for modern styling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3221" y="3971330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Responsive design for all devices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418189" y="1702237"/>
            <a:ext cx="6455569" cy="2853452"/>
          </a:xfrm>
          <a:prstGeom prst="roundRect">
            <a:avLst>
              <a:gd name="adj" fmla="val 1136"/>
            </a:avLst>
          </a:prstGeom>
          <a:solidFill>
            <a:srgbClr val="292C32"/>
          </a:solidFill>
          <a:ln w="30480">
            <a:solidFill>
              <a:srgbClr val="61646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48669" y="1732717"/>
            <a:ext cx="6394609" cy="648533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83810" y="1894761"/>
            <a:ext cx="324207" cy="32420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64768" y="2587228"/>
            <a:ext cx="270236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Backend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7664768" y="3048595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Node.js runtime environment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664768" y="3509962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Express.js web framework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7664768" y="3971330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RESTful API architecture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756642" y="4761667"/>
            <a:ext cx="6455569" cy="2853452"/>
          </a:xfrm>
          <a:prstGeom prst="roundRect">
            <a:avLst>
              <a:gd name="adj" fmla="val 1136"/>
            </a:avLst>
          </a:prstGeom>
          <a:solidFill>
            <a:srgbClr val="292C32"/>
          </a:solidFill>
          <a:ln w="30480">
            <a:solidFill>
              <a:srgbClr val="61646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87122" y="4792147"/>
            <a:ext cx="6394609" cy="648533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22263" y="4954191"/>
            <a:ext cx="324207" cy="32420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03221" y="5646658"/>
            <a:ext cx="270236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AI Engine</a:t>
            </a:r>
            <a:endParaRPr lang="en-US" sz="2100" dirty="0"/>
          </a:p>
        </p:txBody>
      </p:sp>
      <p:sp>
        <p:nvSpPr>
          <p:cNvPr id="21" name="Text 16"/>
          <p:cNvSpPr/>
          <p:nvPr/>
        </p:nvSpPr>
        <p:spPr>
          <a:xfrm>
            <a:off x="1003221" y="6108025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programming language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1003221" y="6569393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scikit-learn for ML models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003221" y="7030760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Pandas for data manipulation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418189" y="4761667"/>
            <a:ext cx="6455569" cy="2853452"/>
          </a:xfrm>
          <a:prstGeom prst="roundRect">
            <a:avLst>
              <a:gd name="adj" fmla="val 1136"/>
            </a:avLst>
          </a:prstGeom>
          <a:solidFill>
            <a:srgbClr val="292C32"/>
          </a:solidFill>
          <a:ln w="30480">
            <a:solidFill>
              <a:srgbClr val="616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48669" y="4792147"/>
            <a:ext cx="6394609" cy="648533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83810" y="4954191"/>
            <a:ext cx="324207" cy="32420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664768" y="5646658"/>
            <a:ext cx="270236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D4D4D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Data Layer</a:t>
            </a:r>
            <a:endParaRPr lang="en-US" sz="2100" dirty="0"/>
          </a:p>
        </p:txBody>
      </p:sp>
      <p:sp>
        <p:nvSpPr>
          <p:cNvPr id="28" name="Text 22"/>
          <p:cNvSpPr/>
          <p:nvPr/>
        </p:nvSpPr>
        <p:spPr>
          <a:xfrm>
            <a:off x="7664768" y="6108025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PostgreSQL relational database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664768" y="6569393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Secure data storage and retrieval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7664768" y="7030760"/>
            <a:ext cx="5962412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Scalable infrastructure</a:t>
            </a:r>
            <a:endParaRPr lang="en-US" sz="17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2E932AD-53DD-E9F8-52C5-72216F0CAC75}"/>
              </a:ext>
            </a:extLst>
          </p:cNvPr>
          <p:cNvSpPr/>
          <p:nvPr/>
        </p:nvSpPr>
        <p:spPr>
          <a:xfrm>
            <a:off x="12674600" y="7734300"/>
            <a:ext cx="1955800" cy="495300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484B5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48" y="170021"/>
            <a:ext cx="5259705" cy="78895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80190" y="87868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The Future of Education is Here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6280190" y="28632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Immediate Benefits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280190" y="3444359"/>
            <a:ext cx="3501509" cy="233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Higher student success rates through early intervention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Reduced teacher workload with automated insights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Data-driven decision making for administrators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342721" y="28632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3F3F2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Future Roadmap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342721" y="3444359"/>
            <a:ext cx="3501509" cy="1973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Mobile app for real-time notifications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Integration with LMS platforms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Advanced NLP for essay analysis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6620351" y="6369963"/>
            <a:ext cx="721625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4D4D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"AcadAI transforms raw data into actionable intelligence, empowering educators to help every student succeed."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280190" y="6114812"/>
            <a:ext cx="30480" cy="1236107"/>
          </a:xfrm>
          <a:prstGeom prst="rect">
            <a:avLst/>
          </a:prstGeom>
          <a:solidFill>
            <a:srgbClr val="FFBC8F"/>
          </a:solidFill>
          <a:ln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C4F388-5E23-13F5-4475-0D14934C3E90}"/>
              </a:ext>
            </a:extLst>
          </p:cNvPr>
          <p:cNvSpPr/>
          <p:nvPr/>
        </p:nvSpPr>
        <p:spPr>
          <a:xfrm>
            <a:off x="12636500" y="7620000"/>
            <a:ext cx="1993900" cy="609600"/>
          </a:xfrm>
          <a:prstGeom prst="rect">
            <a:avLst/>
          </a:prstGeom>
          <a:solidFill>
            <a:srgbClr val="292C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578</Words>
  <Application>Microsoft Office PowerPoint</Application>
  <PresentationFormat>Custom</PresentationFormat>
  <Paragraphs>103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IBM Plex Sans Medium</vt:lpstr>
      <vt:lpstr>Roboto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Surya</dc:creator>
  <cp:lastModifiedBy>Surya Pratap</cp:lastModifiedBy>
  <cp:revision>3</cp:revision>
  <dcterms:created xsi:type="dcterms:W3CDTF">2026-04-13T06:35:02Z</dcterms:created>
  <dcterms:modified xsi:type="dcterms:W3CDTF">2026-04-28T06:12:59Z</dcterms:modified>
</cp:coreProperties>
</file>